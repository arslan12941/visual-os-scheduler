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B6CBF-58B3-4052-AB52-1C0A3D28861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8408360-1EF9-49DE-958B-F0A391F1D59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3696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B6CBF-58B3-4052-AB52-1C0A3D28861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08360-1EF9-49DE-958B-F0A391F1D596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6937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B6CBF-58B3-4052-AB52-1C0A3D28861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08360-1EF9-49DE-958B-F0A391F1D59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872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B6CBF-58B3-4052-AB52-1C0A3D28861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08360-1EF9-49DE-958B-F0A391F1D596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9011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B6CBF-58B3-4052-AB52-1C0A3D28861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08360-1EF9-49DE-958B-F0A391F1D596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30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B6CBF-58B3-4052-AB52-1C0A3D28861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08360-1EF9-49DE-958B-F0A391F1D596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166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B6CBF-58B3-4052-AB52-1C0A3D28861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08360-1EF9-49DE-958B-F0A391F1D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656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B6CBF-58B3-4052-AB52-1C0A3D28861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08360-1EF9-49DE-958B-F0A391F1D596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771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83B6CBF-58B3-4052-AB52-1C0A3D28861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08360-1EF9-49DE-958B-F0A391F1D596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7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B6CBF-58B3-4052-AB52-1C0A3D28861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08360-1EF9-49DE-958B-F0A391F1D596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799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B6CBF-58B3-4052-AB52-1C0A3D28861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08360-1EF9-49DE-958B-F0A391F1D59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5332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3B6CBF-58B3-4052-AB52-1C0A3D28861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8408360-1EF9-49DE-958B-F0A391F1D59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7876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B694B42-96E6-E7AC-51DA-44D93AB23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2787" y="333650"/>
            <a:ext cx="3864833" cy="5797249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95652C2-DAEC-1671-44BB-87DB99C60380}"/>
              </a:ext>
            </a:extLst>
          </p:cNvPr>
          <p:cNvSpPr/>
          <p:nvPr/>
        </p:nvSpPr>
        <p:spPr>
          <a:xfrm>
            <a:off x="0" y="514901"/>
            <a:ext cx="7865806" cy="4745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 OS Scheduler</a:t>
            </a:r>
            <a:endParaRPr lang="en-US" sz="27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68987D4-F965-37D5-426B-CB95D2CB0063}"/>
              </a:ext>
            </a:extLst>
          </p:cNvPr>
          <p:cNvSpPr/>
          <p:nvPr/>
        </p:nvSpPr>
        <p:spPr>
          <a:xfrm>
            <a:off x="284379" y="1789471"/>
            <a:ext cx="5467491" cy="3652038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A2944A4-82C6-5C34-464C-BF94EED60FA8}"/>
              </a:ext>
            </a:extLst>
          </p:cNvPr>
          <p:cNvSpPr/>
          <p:nvPr/>
        </p:nvSpPr>
        <p:spPr>
          <a:xfrm>
            <a:off x="642639" y="213765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Team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DFB1B8F-880A-99DC-643E-1CC932729350}"/>
              </a:ext>
            </a:extLst>
          </p:cNvPr>
          <p:cNvSpPr/>
          <p:nvPr/>
        </p:nvSpPr>
        <p:spPr>
          <a:xfrm>
            <a:off x="642639" y="2566219"/>
            <a:ext cx="4125291" cy="250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Sheikh Abdul Basit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Arslan Nawaz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Talal Riaz Khan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29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9F09661-9B16-6BB0-1E24-B1740791A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007" y="98323"/>
            <a:ext cx="3822290" cy="5733435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057E5CF-9124-A565-1219-DB47A19F2A1B}"/>
              </a:ext>
            </a:extLst>
          </p:cNvPr>
          <p:cNvSpPr/>
          <p:nvPr/>
        </p:nvSpPr>
        <p:spPr>
          <a:xfrm>
            <a:off x="380821" y="1370168"/>
            <a:ext cx="3950613" cy="480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Overview</a:t>
            </a:r>
            <a:endParaRPr lang="en-US" sz="27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6BEB204-DDD6-9E6D-C010-37978499B0E3}"/>
              </a:ext>
            </a:extLst>
          </p:cNvPr>
          <p:cNvSpPr/>
          <p:nvPr/>
        </p:nvSpPr>
        <p:spPr>
          <a:xfrm>
            <a:off x="1835708" y="1940865"/>
            <a:ext cx="5264441" cy="491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CPU scheduling decides which process runs when. It shapes process execution order and overall system performance.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31DFD009-E7B5-50F6-F846-C5F0A31FA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4122" y="2805599"/>
            <a:ext cx="395003" cy="395003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4BE8F741-8FE5-DF73-B979-5C3881FA8209}"/>
              </a:ext>
            </a:extLst>
          </p:cNvPr>
          <p:cNvSpPr/>
          <p:nvPr/>
        </p:nvSpPr>
        <p:spPr>
          <a:xfrm>
            <a:off x="1368495" y="2855505"/>
            <a:ext cx="1975264" cy="24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Purpose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6DCF21B-D904-9020-4393-B01009C9B89C}"/>
              </a:ext>
            </a:extLst>
          </p:cNvPr>
          <p:cNvSpPr/>
          <p:nvPr/>
        </p:nvSpPr>
        <p:spPr>
          <a:xfrm>
            <a:off x="1961125" y="3231559"/>
            <a:ext cx="4671936" cy="245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Maximize CPU utilization and responsiveness.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D39770AB-505C-92F2-40A2-9AA61371C7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375" y="3928504"/>
            <a:ext cx="395003" cy="395003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94858D87-0DD6-8B44-FA12-92C69C723E4F}"/>
              </a:ext>
            </a:extLst>
          </p:cNvPr>
          <p:cNvSpPr/>
          <p:nvPr/>
        </p:nvSpPr>
        <p:spPr>
          <a:xfrm>
            <a:off x="1368495" y="4083424"/>
            <a:ext cx="1975264" cy="24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Impact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16A148F9-2928-2FAE-06A7-62C45EAAE714}"/>
              </a:ext>
            </a:extLst>
          </p:cNvPr>
          <p:cNvSpPr/>
          <p:nvPr/>
        </p:nvSpPr>
        <p:spPr>
          <a:xfrm>
            <a:off x="1995466" y="4472432"/>
            <a:ext cx="4671936" cy="245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Affects waiting time, turnaround time, and fairness.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503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4FB5767-7D78-C0FF-6D09-D28EDF66A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019" y="334296"/>
            <a:ext cx="3723968" cy="558595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DDD3A9C-DCF9-798D-02BE-B257F4275401}"/>
              </a:ext>
            </a:extLst>
          </p:cNvPr>
          <p:cNvSpPr/>
          <p:nvPr/>
        </p:nvSpPr>
        <p:spPr>
          <a:xfrm>
            <a:off x="417460" y="845969"/>
            <a:ext cx="3848990" cy="462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</a:t>
            </a:r>
            <a:endParaRPr lang="en-US" sz="275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458EEF3A-E115-7BFC-C400-26A681C27977}"/>
              </a:ext>
            </a:extLst>
          </p:cNvPr>
          <p:cNvSpPr/>
          <p:nvPr/>
        </p:nvSpPr>
        <p:spPr>
          <a:xfrm>
            <a:off x="643603" y="2052449"/>
            <a:ext cx="76936" cy="73957"/>
          </a:xfrm>
          <a:prstGeom prst="roundRect">
            <a:avLst>
              <a:gd name="adj" fmla="val 403362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1390108-738A-1895-8E24-CC2EF9ADD291}"/>
              </a:ext>
            </a:extLst>
          </p:cNvPr>
          <p:cNvSpPr/>
          <p:nvPr/>
        </p:nvSpPr>
        <p:spPr>
          <a:xfrm>
            <a:off x="1093512" y="1973830"/>
            <a:ext cx="1924454" cy="23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Contention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7785CC9-BA87-B245-E445-41B33B942B68}"/>
              </a:ext>
            </a:extLst>
          </p:cNvPr>
          <p:cNvSpPr/>
          <p:nvPr/>
        </p:nvSpPr>
        <p:spPr>
          <a:xfrm>
            <a:off x="2502436" y="2258266"/>
            <a:ext cx="4898133" cy="236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Multiple processes compete for a single CPU.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5FFB53C-A22C-5261-6E6C-D0071503D570}"/>
              </a:ext>
            </a:extLst>
          </p:cNvPr>
          <p:cNvSpPr/>
          <p:nvPr/>
        </p:nvSpPr>
        <p:spPr>
          <a:xfrm>
            <a:off x="643603" y="2806822"/>
            <a:ext cx="76936" cy="73957"/>
          </a:xfrm>
          <a:prstGeom prst="roundRect">
            <a:avLst>
              <a:gd name="adj" fmla="val 403362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FF82E78-E1A7-2F26-4ACE-D1AF9EDDC94B}"/>
              </a:ext>
            </a:extLst>
          </p:cNvPr>
          <p:cNvSpPr/>
          <p:nvPr/>
        </p:nvSpPr>
        <p:spPr>
          <a:xfrm>
            <a:off x="1093512" y="2753802"/>
            <a:ext cx="1924454" cy="23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Goals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77B40EB-2929-7E49-CD97-EE02BACAB712}"/>
              </a:ext>
            </a:extLst>
          </p:cNvPr>
          <p:cNvSpPr/>
          <p:nvPr/>
        </p:nvSpPr>
        <p:spPr>
          <a:xfrm>
            <a:off x="2163886" y="2947453"/>
            <a:ext cx="4898133" cy="236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Need fairness and efficiency in scheduling.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3D86B0D3-F540-0BD4-5D14-7F9657522382}"/>
              </a:ext>
            </a:extLst>
          </p:cNvPr>
          <p:cNvSpPr/>
          <p:nvPr/>
        </p:nvSpPr>
        <p:spPr>
          <a:xfrm>
            <a:off x="605135" y="3557091"/>
            <a:ext cx="76936" cy="73957"/>
          </a:xfrm>
          <a:prstGeom prst="roundRect">
            <a:avLst>
              <a:gd name="adj" fmla="val 403362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8E7E058-94DD-1028-998F-38397A4954D1}"/>
              </a:ext>
            </a:extLst>
          </p:cNvPr>
          <p:cNvSpPr/>
          <p:nvPr/>
        </p:nvSpPr>
        <p:spPr>
          <a:xfrm>
            <a:off x="985364" y="3478472"/>
            <a:ext cx="1924454" cy="23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Visualization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B9C1B61-232A-D028-C193-15C39CE2B55A}"/>
              </a:ext>
            </a:extLst>
          </p:cNvPr>
          <p:cNvSpPr/>
          <p:nvPr/>
        </p:nvSpPr>
        <p:spPr>
          <a:xfrm>
            <a:off x="2077026" y="3799228"/>
            <a:ext cx="4898133" cy="236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Scheduling behavior is hard to visualize and compare.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771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51AFB53-466D-6242-F17E-883F392F3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2368" y="0"/>
            <a:ext cx="4038600" cy="60579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34809B9-C619-BFD8-BD25-04A02FE4ED40}"/>
              </a:ext>
            </a:extLst>
          </p:cNvPr>
          <p:cNvSpPr/>
          <p:nvPr/>
        </p:nvSpPr>
        <p:spPr>
          <a:xfrm>
            <a:off x="535449" y="836684"/>
            <a:ext cx="4174185" cy="44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Objective</a:t>
            </a:r>
            <a:endParaRPr lang="en-US" sz="27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E483A3A-8066-DA31-9FC2-1F6AE1429197}"/>
              </a:ext>
            </a:extLst>
          </p:cNvPr>
          <p:cNvSpPr/>
          <p:nvPr/>
        </p:nvSpPr>
        <p:spPr>
          <a:xfrm>
            <a:off x="373625" y="1612491"/>
            <a:ext cx="6845065" cy="2690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Implement scheduling algorithms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Simulate process execution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Visualize scheduling timeline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Measure performance metrics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406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5541327-D2A8-2907-5809-509281BB7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41" y="1919391"/>
            <a:ext cx="4027402" cy="2684868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D95F9F8-1BD1-8C9F-2BBA-547F89D4004C}"/>
              </a:ext>
            </a:extLst>
          </p:cNvPr>
          <p:cNvSpPr/>
          <p:nvPr/>
        </p:nvSpPr>
        <p:spPr>
          <a:xfrm>
            <a:off x="4960340" y="726597"/>
            <a:ext cx="3319436" cy="467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Structure</a:t>
            </a:r>
            <a:endParaRPr lang="en-US" sz="22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48875898-E930-739A-3243-B838351552FA}"/>
              </a:ext>
            </a:extLst>
          </p:cNvPr>
          <p:cNvSpPr/>
          <p:nvPr/>
        </p:nvSpPr>
        <p:spPr>
          <a:xfrm>
            <a:off x="4983294" y="1919391"/>
            <a:ext cx="2699056" cy="1202557"/>
          </a:xfrm>
          <a:prstGeom prst="roundRect">
            <a:avLst>
              <a:gd name="adj" fmla="val 6531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9DE89C5-380C-43F9-A1A6-81FB81786342}"/>
              </a:ext>
            </a:extLst>
          </p:cNvPr>
          <p:cNvSpPr/>
          <p:nvPr/>
        </p:nvSpPr>
        <p:spPr>
          <a:xfrm>
            <a:off x="5295531" y="2024859"/>
            <a:ext cx="2074582" cy="29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Process Generator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9B3117B-B426-B3AC-D15A-24CB05CCE796}"/>
              </a:ext>
            </a:extLst>
          </p:cNvPr>
          <p:cNvSpPr/>
          <p:nvPr/>
        </p:nvSpPr>
        <p:spPr>
          <a:xfrm>
            <a:off x="5295531" y="2458487"/>
            <a:ext cx="2322524" cy="279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Creates input process sets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F038621-B710-193B-8888-BE68D7E1FD83}"/>
              </a:ext>
            </a:extLst>
          </p:cNvPr>
          <p:cNvSpPr/>
          <p:nvPr/>
        </p:nvSpPr>
        <p:spPr>
          <a:xfrm>
            <a:off x="8353701" y="1896037"/>
            <a:ext cx="2699143" cy="1202557"/>
          </a:xfrm>
          <a:prstGeom prst="roundRect">
            <a:avLst>
              <a:gd name="adj" fmla="val 6531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E314CA3-584E-EE48-7D0F-D717EB5C9965}"/>
              </a:ext>
            </a:extLst>
          </p:cNvPr>
          <p:cNvSpPr/>
          <p:nvPr/>
        </p:nvSpPr>
        <p:spPr>
          <a:xfrm>
            <a:off x="8854247" y="2111987"/>
            <a:ext cx="2074582" cy="29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Scheduler Module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4167215-24AA-5EAF-5475-5D6F737B7F6D}"/>
              </a:ext>
            </a:extLst>
          </p:cNvPr>
          <p:cNvSpPr/>
          <p:nvPr/>
        </p:nvSpPr>
        <p:spPr>
          <a:xfrm>
            <a:off x="8730232" y="2438317"/>
            <a:ext cx="2322612" cy="299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Applies selected algorithm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58658CF6-EB01-2E24-6974-C23F92B4D7C9}"/>
              </a:ext>
            </a:extLst>
          </p:cNvPr>
          <p:cNvSpPr/>
          <p:nvPr/>
        </p:nvSpPr>
        <p:spPr>
          <a:xfrm>
            <a:off x="5111768" y="3459132"/>
            <a:ext cx="5564163" cy="1202557"/>
          </a:xfrm>
          <a:prstGeom prst="roundRect">
            <a:avLst>
              <a:gd name="adj" fmla="val 6531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B434F50-20FA-0A87-8535-AB40C739C7F5}"/>
              </a:ext>
            </a:extLst>
          </p:cNvPr>
          <p:cNvSpPr/>
          <p:nvPr/>
        </p:nvSpPr>
        <p:spPr>
          <a:xfrm>
            <a:off x="5683023" y="3734080"/>
            <a:ext cx="2074582" cy="29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Graph &amp; Metrics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87A48A8-70B6-E4A9-840C-5FF83DBBDAC7}"/>
              </a:ext>
            </a:extLst>
          </p:cNvPr>
          <p:cNvSpPr/>
          <p:nvPr/>
        </p:nvSpPr>
        <p:spPr>
          <a:xfrm>
            <a:off x="6813733" y="4001960"/>
            <a:ext cx="5187632" cy="299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Produces timeline and performance stats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50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EF45E7F-1692-F314-B4ED-AD299B980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93" y="1108873"/>
            <a:ext cx="4950952" cy="3300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7F1AC81-E6A6-9474-F98A-371931FE45E5}"/>
              </a:ext>
            </a:extLst>
          </p:cNvPr>
          <p:cNvSpPr/>
          <p:nvPr/>
        </p:nvSpPr>
        <p:spPr>
          <a:xfrm>
            <a:off x="5927454" y="1272077"/>
            <a:ext cx="5045016" cy="618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 Generator</a:t>
            </a:r>
            <a:endParaRPr lang="en-US" sz="27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D65844F-21F7-17CD-29E6-D3A90B236DFD}"/>
              </a:ext>
            </a:extLst>
          </p:cNvPr>
          <p:cNvSpPr/>
          <p:nvPr/>
        </p:nvSpPr>
        <p:spPr>
          <a:xfrm>
            <a:off x="6096000" y="1890979"/>
            <a:ext cx="6160539" cy="10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Arrival time: Normal distribution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Burst time: Normal distribution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Priority: Poisson distribution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F4C15E6-7110-4FC2-B420-242A1FBBB013}"/>
              </a:ext>
            </a:extLst>
          </p:cNvPr>
          <p:cNvSpPr/>
          <p:nvPr/>
        </p:nvSpPr>
        <p:spPr>
          <a:xfrm>
            <a:off x="5809467" y="3561004"/>
            <a:ext cx="6160539" cy="316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Generates varied realistic workloads for simulation.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072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2F35BC0-F685-67A7-80EA-0EF56A95CE55}"/>
              </a:ext>
            </a:extLst>
          </p:cNvPr>
          <p:cNvGrpSpPr/>
          <p:nvPr/>
        </p:nvGrpSpPr>
        <p:grpSpPr>
          <a:xfrm>
            <a:off x="388944" y="1379256"/>
            <a:ext cx="5721237" cy="3004428"/>
            <a:chOff x="496119" y="1091381"/>
            <a:chExt cx="4959647" cy="2138636"/>
          </a:xfrm>
        </p:grpSpPr>
        <p:pic>
          <p:nvPicPr>
            <p:cNvPr id="2" name="Image 0" descr="preencoded.png">
              <a:extLst>
                <a:ext uri="{FF2B5EF4-FFF2-40B4-BE49-F238E27FC236}">
                  <a16:creationId xmlns:a16="http://schemas.microsoft.com/office/drawing/2014/main" id="{6B4EADF4-F9C0-F40A-7D46-4F8F9FE69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6119" y="1091381"/>
              <a:ext cx="4959647" cy="2138636"/>
            </a:xfrm>
            <a:prstGeom prst="rect">
              <a:avLst/>
            </a:prstGeom>
          </p:spPr>
        </p:pic>
        <p:sp>
          <p:nvSpPr>
            <p:cNvPr id="3" name="Text 0">
              <a:extLst>
                <a:ext uri="{FF2B5EF4-FFF2-40B4-BE49-F238E27FC236}">
                  <a16:creationId xmlns:a16="http://schemas.microsoft.com/office/drawing/2014/main" id="{A6890A3F-FC95-912B-3006-975725C3C070}"/>
                </a:ext>
              </a:extLst>
            </p:cNvPr>
            <p:cNvSpPr/>
            <p:nvPr/>
          </p:nvSpPr>
          <p:spPr>
            <a:xfrm>
              <a:off x="766380" y="2846519"/>
              <a:ext cx="723899" cy="14064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65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Inter Bold" pitchFamily="34" charset="-122"/>
                  <a:cs typeface="Times New Roman" panose="02020603050405020304" pitchFamily="18" charset="0"/>
                </a:rPr>
                <a:t>Simulate &amp; Output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 1">
              <a:extLst>
                <a:ext uri="{FF2B5EF4-FFF2-40B4-BE49-F238E27FC236}">
                  <a16:creationId xmlns:a16="http://schemas.microsoft.com/office/drawing/2014/main" id="{40E6C690-8B84-7924-55CA-B418ADD6B61C}"/>
                </a:ext>
              </a:extLst>
            </p:cNvPr>
            <p:cNvSpPr/>
            <p:nvPr/>
          </p:nvSpPr>
          <p:spPr>
            <a:xfrm>
              <a:off x="804479" y="2357253"/>
              <a:ext cx="723899" cy="1406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65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Inter Bold" pitchFamily="34" charset="-122"/>
                  <a:cs typeface="Times New Roman" panose="02020603050405020304" pitchFamily="18" charset="0"/>
                </a:rPr>
                <a:t>Select Algorithm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 2">
              <a:extLst>
                <a:ext uri="{FF2B5EF4-FFF2-40B4-BE49-F238E27FC236}">
                  <a16:creationId xmlns:a16="http://schemas.microsoft.com/office/drawing/2014/main" id="{9D1E78A4-87CA-9925-5B63-4D932579E95E}"/>
                </a:ext>
              </a:extLst>
            </p:cNvPr>
            <p:cNvSpPr/>
            <p:nvPr/>
          </p:nvSpPr>
          <p:spPr>
            <a:xfrm>
              <a:off x="804480" y="1855730"/>
              <a:ext cx="723899" cy="1406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65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Inter Bold" pitchFamily="34" charset="-122"/>
                  <a:cs typeface="Times New Roman" panose="02020603050405020304" pitchFamily="18" charset="0"/>
                </a:rPr>
                <a:t>Parse Processes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 3">
              <a:extLst>
                <a:ext uri="{FF2B5EF4-FFF2-40B4-BE49-F238E27FC236}">
                  <a16:creationId xmlns:a16="http://schemas.microsoft.com/office/drawing/2014/main" id="{D937C295-58EE-AACC-B689-F5F4C143F4CB}"/>
                </a:ext>
              </a:extLst>
            </p:cNvPr>
            <p:cNvSpPr/>
            <p:nvPr/>
          </p:nvSpPr>
          <p:spPr>
            <a:xfrm>
              <a:off x="842580" y="1371209"/>
              <a:ext cx="723899" cy="1406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650"/>
                </a:lnSpc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Inter Bold" pitchFamily="34" charset="-122"/>
                  <a:cs typeface="Times New Roman" panose="02020603050405020304" pitchFamily="18" charset="0"/>
                </a:rPr>
                <a:t>Read Input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 4">
            <a:extLst>
              <a:ext uri="{FF2B5EF4-FFF2-40B4-BE49-F238E27FC236}">
                <a16:creationId xmlns:a16="http://schemas.microsoft.com/office/drawing/2014/main" id="{F8E5C57C-D33A-0D9A-C369-34EE7F1D8AA5}"/>
              </a:ext>
            </a:extLst>
          </p:cNvPr>
          <p:cNvSpPr/>
          <p:nvPr/>
        </p:nvSpPr>
        <p:spPr>
          <a:xfrm>
            <a:off x="6096000" y="958649"/>
            <a:ext cx="3704129" cy="719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Scheduler Module</a:t>
            </a:r>
            <a:endParaRPr lang="en-US" sz="27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D00B270-6B0C-0484-D068-7900B8E8E5CF}"/>
              </a:ext>
            </a:extLst>
          </p:cNvPr>
          <p:cNvSpPr/>
          <p:nvPr/>
        </p:nvSpPr>
        <p:spPr>
          <a:xfrm>
            <a:off x="6383517" y="1678257"/>
            <a:ext cx="4967251" cy="73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Reads file input, applies chosen algorithm, handles context switches, and outputs execution graph plus metrics.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C03EDF7-B727-0974-1B92-62FB229F98BC}"/>
              </a:ext>
            </a:extLst>
          </p:cNvPr>
          <p:cNvSpPr/>
          <p:nvPr/>
        </p:nvSpPr>
        <p:spPr>
          <a:xfrm>
            <a:off x="6110181" y="2497894"/>
            <a:ext cx="5808484" cy="1347039"/>
          </a:xfrm>
          <a:prstGeom prst="roundRect">
            <a:avLst>
              <a:gd name="adj" fmla="val 9884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85BF3F14-41BC-BA5D-80E7-6F2846682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875" y="2766330"/>
            <a:ext cx="287820" cy="230280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1334DC7E-0820-7CBE-7C57-98106E802BD6}"/>
              </a:ext>
            </a:extLst>
          </p:cNvPr>
          <p:cNvSpPr/>
          <p:nvPr/>
        </p:nvSpPr>
        <p:spPr>
          <a:xfrm>
            <a:off x="6845625" y="2766311"/>
            <a:ext cx="4337595" cy="368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Supports configurable context-switch time and time quantum.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65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3E76B6F-50CD-1CAE-5802-60CC6AE95EAC}"/>
              </a:ext>
            </a:extLst>
          </p:cNvPr>
          <p:cNvSpPr/>
          <p:nvPr/>
        </p:nvSpPr>
        <p:spPr>
          <a:xfrm>
            <a:off x="496120" y="648928"/>
            <a:ext cx="5673269" cy="755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Algorithms </a:t>
            </a:r>
            <a:r>
              <a:rPr lang="en-US" sz="27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Implemented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C9246618-1A04-8D2F-EC1D-BFD1818C8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20" y="1888304"/>
            <a:ext cx="556727" cy="522893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835120E0-810D-43DE-0ED7-B949D03D498F}"/>
              </a:ext>
            </a:extLst>
          </p:cNvPr>
          <p:cNvSpPr/>
          <p:nvPr/>
        </p:nvSpPr>
        <p:spPr>
          <a:xfrm>
            <a:off x="1288352" y="1888304"/>
            <a:ext cx="1738799" cy="377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FCFS</a:t>
            </a:r>
            <a:endParaRPr lang="en-US" sz="13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D1864332-60B4-0E28-1EE0-F094BA7EE838}"/>
              </a:ext>
            </a:extLst>
          </p:cNvPr>
          <p:cNvSpPr/>
          <p:nvPr/>
        </p:nvSpPr>
        <p:spPr>
          <a:xfrm>
            <a:off x="1288352" y="2411196"/>
            <a:ext cx="1738799" cy="193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Come First Serve — non-preemptive; simple but higher waiting time.</a:t>
            </a:r>
            <a:endParaRPr lang="en-US" sz="110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C34ECA20-B821-852F-7CB5-F99E36CC8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557" y="1888305"/>
            <a:ext cx="556827" cy="522893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7E15E15C-B1B4-58DC-EC23-B6CDDAF4B9C7}"/>
              </a:ext>
            </a:extLst>
          </p:cNvPr>
          <p:cNvSpPr/>
          <p:nvPr/>
        </p:nvSpPr>
        <p:spPr>
          <a:xfrm>
            <a:off x="4054790" y="1888304"/>
            <a:ext cx="1738899" cy="377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HPF</a:t>
            </a:r>
            <a:endParaRPr lang="en-US" sz="135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5E33AEDA-23B1-F906-CD65-AF15F924FDD6}"/>
              </a:ext>
            </a:extLst>
          </p:cNvPr>
          <p:cNvSpPr/>
          <p:nvPr/>
        </p:nvSpPr>
        <p:spPr>
          <a:xfrm>
            <a:off x="4054790" y="2411196"/>
            <a:ext cx="1738899" cy="154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Priority-based — higher priority runs first; ties by process ID.</a:t>
            </a:r>
            <a:endParaRPr lang="en-US" sz="1100" dirty="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9263E819-D2D8-F984-2D70-EAEC132E5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9094" y="1888305"/>
            <a:ext cx="556827" cy="522893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D39ABF87-13E1-CE00-ABBD-588FAE653FBC}"/>
              </a:ext>
            </a:extLst>
          </p:cNvPr>
          <p:cNvSpPr/>
          <p:nvPr/>
        </p:nvSpPr>
        <p:spPr>
          <a:xfrm>
            <a:off x="6821327" y="1888304"/>
            <a:ext cx="1738899" cy="377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Round Robin</a:t>
            </a:r>
            <a:endParaRPr lang="en-US" sz="135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6D01118A-E9D9-471B-5DAA-87F7F5A2C960}"/>
              </a:ext>
            </a:extLst>
          </p:cNvPr>
          <p:cNvSpPr/>
          <p:nvPr/>
        </p:nvSpPr>
        <p:spPr>
          <a:xfrm>
            <a:off x="6821327" y="2411196"/>
            <a:ext cx="1738899" cy="1160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Time-sharing with quantum — fair scheduling.</a:t>
            </a:r>
            <a:endParaRPr lang="en-US" sz="1100" dirty="0"/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8D05E9F5-CE7C-42C7-993A-F6FB1A010E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5630" y="1888305"/>
            <a:ext cx="556827" cy="522893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B9747983-FC3D-84EF-53E9-E89C1816C0BE}"/>
              </a:ext>
            </a:extLst>
          </p:cNvPr>
          <p:cNvSpPr/>
          <p:nvPr/>
        </p:nvSpPr>
        <p:spPr>
          <a:xfrm>
            <a:off x="9587863" y="1888304"/>
            <a:ext cx="1738899" cy="377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SRTN</a:t>
            </a:r>
            <a:endParaRPr lang="en-US" sz="135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BAE26856-817E-8D90-BA76-4D819F973EF1}"/>
              </a:ext>
            </a:extLst>
          </p:cNvPr>
          <p:cNvSpPr/>
          <p:nvPr/>
        </p:nvSpPr>
        <p:spPr>
          <a:xfrm>
            <a:off x="9587863" y="2411196"/>
            <a:ext cx="1738899" cy="154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Preemptive shortest remaining time first  fast response.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0956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36BC72F-69BC-DAD4-7836-7605A98AE0A8}"/>
              </a:ext>
            </a:extLst>
          </p:cNvPr>
          <p:cNvGrpSpPr/>
          <p:nvPr/>
        </p:nvGrpSpPr>
        <p:grpSpPr>
          <a:xfrm>
            <a:off x="368300" y="875071"/>
            <a:ext cx="10978126" cy="4739148"/>
            <a:chOff x="496119" y="1270769"/>
            <a:chExt cx="8156525" cy="2601962"/>
          </a:xfrm>
        </p:grpSpPr>
        <p:pic>
          <p:nvPicPr>
            <p:cNvPr id="3" name="Image 0" descr="preencoded.png">
              <a:extLst>
                <a:ext uri="{FF2B5EF4-FFF2-40B4-BE49-F238E27FC236}">
                  <a16:creationId xmlns:a16="http://schemas.microsoft.com/office/drawing/2014/main" id="{9429D955-5537-D238-7BA8-8850F85DF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6119" y="1270769"/>
              <a:ext cx="3902943" cy="2601962"/>
            </a:xfrm>
            <a:prstGeom prst="rect">
              <a:avLst/>
            </a:prstGeom>
          </p:spPr>
        </p:pic>
        <p:sp>
          <p:nvSpPr>
            <p:cNvPr id="4" name="Text 0">
              <a:extLst>
                <a:ext uri="{FF2B5EF4-FFF2-40B4-BE49-F238E27FC236}">
                  <a16:creationId xmlns:a16="http://schemas.microsoft.com/office/drawing/2014/main" id="{C99376FA-BBA6-7E14-60EB-1211EFB67131}"/>
                </a:ext>
              </a:extLst>
            </p:cNvPr>
            <p:cNvSpPr/>
            <p:nvPr/>
          </p:nvSpPr>
          <p:spPr>
            <a:xfrm>
              <a:off x="4749701" y="1568872"/>
              <a:ext cx="3544119" cy="4429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450"/>
                </a:lnSpc>
                <a:buNone/>
              </a:pPr>
              <a:r>
                <a:rPr lang="en-US" sz="2750" b="1" dirty="0">
                  <a:solidFill>
                    <a:srgbClr val="000000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Input &amp; Output</a:t>
              </a:r>
              <a:endParaRPr lang="en-US" sz="2750" dirty="0"/>
            </a:p>
          </p:txBody>
        </p:sp>
        <p:sp>
          <p:nvSpPr>
            <p:cNvPr id="5" name="Text 1">
              <a:extLst>
                <a:ext uri="{FF2B5EF4-FFF2-40B4-BE49-F238E27FC236}">
                  <a16:creationId xmlns:a16="http://schemas.microsoft.com/office/drawing/2014/main" id="{1F837774-9828-5FC7-F9D1-E9E601D3B991}"/>
                </a:ext>
              </a:extLst>
            </p:cNvPr>
            <p:cNvSpPr/>
            <p:nvPr/>
          </p:nvSpPr>
          <p:spPr>
            <a:xfrm>
              <a:off x="4749701" y="2068562"/>
              <a:ext cx="1772022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b="1" dirty="0">
                  <a:solidFill>
                    <a:srgbClr val="000000"/>
                  </a:solidFill>
                  <a:latin typeface="Times New Roman" panose="02020603050405020304" pitchFamily="18" charset="0"/>
                  <a:ea typeface="Inter Bold" pitchFamily="34" charset="-122"/>
                  <a:cs typeface="Times New Roman" panose="02020603050405020304" pitchFamily="18" charset="0"/>
                </a:rPr>
                <a:t>Input (file)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 2">
              <a:extLst>
                <a:ext uri="{FF2B5EF4-FFF2-40B4-BE49-F238E27FC236}">
                  <a16:creationId xmlns:a16="http://schemas.microsoft.com/office/drawing/2014/main" id="{365212FB-E5C5-93E1-45DE-A1F9D0A1D1F0}"/>
                </a:ext>
              </a:extLst>
            </p:cNvPr>
            <p:cNvSpPr/>
            <p:nvPr/>
          </p:nvSpPr>
          <p:spPr>
            <a:xfrm>
              <a:off x="4749701" y="2431777"/>
              <a:ext cx="3902943" cy="226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Process ID, Arrival Time, Burst Time, Priority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C329D034-4400-1A42-BB67-C730B1E07178}"/>
                </a:ext>
              </a:extLst>
            </p:cNvPr>
            <p:cNvSpPr/>
            <p:nvPr/>
          </p:nvSpPr>
          <p:spPr>
            <a:xfrm>
              <a:off x="4749701" y="2800350"/>
              <a:ext cx="1772022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1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Inter Bold" pitchFamily="34" charset="-122"/>
                  <a:cs typeface="Times New Roman" panose="02020603050405020304" pitchFamily="18" charset="0"/>
                </a:rPr>
                <a:t>Output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 4">
              <a:extLst>
                <a:ext uri="{FF2B5EF4-FFF2-40B4-BE49-F238E27FC236}">
                  <a16:creationId xmlns:a16="http://schemas.microsoft.com/office/drawing/2014/main" id="{0D80D6A8-19DE-4820-D2D3-6CE36273C655}"/>
                </a:ext>
              </a:extLst>
            </p:cNvPr>
            <p:cNvSpPr/>
            <p:nvPr/>
          </p:nvSpPr>
          <p:spPr>
            <a:xfrm>
              <a:off x="4749700" y="2974626"/>
              <a:ext cx="3902943" cy="5031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ct val="20000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CPU scheduling graph (timeline)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algn="l">
                <a:lnSpc>
                  <a:spcPct val="20000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Waiting Time, Turnaround Time, Weighted Turnaround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5809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18C1EAD-75F1-ADCB-DC36-CF241BA8084E}"/>
              </a:ext>
            </a:extLst>
          </p:cNvPr>
          <p:cNvGrpSpPr/>
          <p:nvPr/>
        </p:nvGrpSpPr>
        <p:grpSpPr>
          <a:xfrm>
            <a:off x="1646495" y="432619"/>
            <a:ext cx="9060834" cy="5515897"/>
            <a:chOff x="496120" y="957188"/>
            <a:chExt cx="4722687" cy="2842841"/>
          </a:xfrm>
        </p:grpSpPr>
        <p:sp>
          <p:nvSpPr>
            <p:cNvPr id="3" name="Text 0">
              <a:extLst>
                <a:ext uri="{FF2B5EF4-FFF2-40B4-BE49-F238E27FC236}">
                  <a16:creationId xmlns:a16="http://schemas.microsoft.com/office/drawing/2014/main" id="{050A2358-7E04-453F-A33C-FC0801ABE039}"/>
                </a:ext>
              </a:extLst>
            </p:cNvPr>
            <p:cNvSpPr/>
            <p:nvPr/>
          </p:nvSpPr>
          <p:spPr>
            <a:xfrm>
              <a:off x="730895" y="957188"/>
              <a:ext cx="4253210" cy="4429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450"/>
                </a:lnSpc>
                <a:buNone/>
              </a:pPr>
              <a:r>
                <a:rPr lang="en-US" sz="3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Inter Bold" pitchFamily="34" charset="-122"/>
                  <a:cs typeface="Times New Roman" panose="02020603050405020304" pitchFamily="18" charset="0"/>
                </a:rPr>
                <a:t>Conclusion &amp; Next Steps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Shape 1">
              <a:extLst>
                <a:ext uri="{FF2B5EF4-FFF2-40B4-BE49-F238E27FC236}">
                  <a16:creationId xmlns:a16="http://schemas.microsoft.com/office/drawing/2014/main" id="{DFCE1194-4202-1FEF-2170-A65571341620}"/>
                </a:ext>
              </a:extLst>
            </p:cNvPr>
            <p:cNvSpPr/>
            <p:nvPr/>
          </p:nvSpPr>
          <p:spPr>
            <a:xfrm>
              <a:off x="496120" y="1612776"/>
              <a:ext cx="1479724" cy="2187253"/>
            </a:xfrm>
            <a:prstGeom prst="roundRect">
              <a:avLst>
                <a:gd name="adj" fmla="val 4024"/>
              </a:avLst>
            </a:prstGeom>
            <a:solidFill>
              <a:srgbClr val="DADBF1"/>
            </a:solidFill>
            <a:ln w="4763">
              <a:solidFill>
                <a:srgbClr val="C0C1D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A3136D7-8F91-59BB-BE9E-7A2AE4026365}"/>
                </a:ext>
              </a:extLst>
            </p:cNvPr>
            <p:cNvGrpSpPr/>
            <p:nvPr/>
          </p:nvGrpSpPr>
          <p:grpSpPr>
            <a:xfrm>
              <a:off x="558295" y="1612776"/>
              <a:ext cx="4660512" cy="2187253"/>
              <a:chOff x="558295" y="1612776"/>
              <a:chExt cx="4660512" cy="2187253"/>
            </a:xfrm>
          </p:grpSpPr>
          <p:sp>
            <p:nvSpPr>
              <p:cNvPr id="6" name="Text 2">
                <a:extLst>
                  <a:ext uri="{FF2B5EF4-FFF2-40B4-BE49-F238E27FC236}">
                    <a16:creationId xmlns:a16="http://schemas.microsoft.com/office/drawing/2014/main" id="{6CC56DED-DE76-B2B5-C572-18523759223A}"/>
                  </a:ext>
                </a:extLst>
              </p:cNvPr>
              <p:cNvSpPr/>
              <p:nvPr/>
            </p:nvSpPr>
            <p:spPr>
              <a:xfrm>
                <a:off x="642640" y="1759297"/>
                <a:ext cx="1186681" cy="22145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700"/>
                  </a:lnSpc>
                  <a:buNone/>
                </a:pPr>
                <a:r>
                  <a:rPr lang="en-US" sz="2400" b="1" dirty="0">
                    <a:solidFill>
                      <a:srgbClr val="272525"/>
                    </a:solidFill>
                    <a:latin typeface="Times New Roman" panose="02020603050405020304" pitchFamily="18" charset="0"/>
                    <a:ea typeface="Inter Bold" pitchFamily="34" charset="-122"/>
                    <a:cs typeface="Times New Roman" panose="02020603050405020304" pitchFamily="18" charset="0"/>
                  </a:rPr>
                  <a:t>Results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Text 3">
                <a:extLst>
                  <a:ext uri="{FF2B5EF4-FFF2-40B4-BE49-F238E27FC236}">
                    <a16:creationId xmlns:a16="http://schemas.microsoft.com/office/drawing/2014/main" id="{792986E7-0E84-C22A-D406-36A5F9242275}"/>
                  </a:ext>
                </a:extLst>
              </p:cNvPr>
              <p:cNvSpPr/>
              <p:nvPr/>
            </p:nvSpPr>
            <p:spPr>
              <a:xfrm>
                <a:off x="558295" y="2074793"/>
                <a:ext cx="1388561" cy="9072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750"/>
                  </a:lnSpc>
                  <a:buNone/>
                </a:pPr>
                <a:r>
                  <a:rPr lang="en-US" dirty="0">
                    <a:solidFill>
                      <a:srgbClr val="272525"/>
                    </a:solidFill>
                    <a:latin typeface="Times New Roman" panose="02020603050405020304" pitchFamily="18" charset="0"/>
                    <a:ea typeface="Inter" pitchFamily="34" charset="-122"/>
                    <a:cs typeface="Times New Roman" panose="02020603050405020304" pitchFamily="18" charset="0"/>
                  </a:rPr>
                  <a:t>All algorithms implemented; visualization and metrics working.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Shape 4">
                <a:extLst>
                  <a:ext uri="{FF2B5EF4-FFF2-40B4-BE49-F238E27FC236}">
                    <a16:creationId xmlns:a16="http://schemas.microsoft.com/office/drawing/2014/main" id="{1ECA7247-C8F4-1647-A05D-B2D22B6789BE}"/>
                  </a:ext>
                </a:extLst>
              </p:cNvPr>
              <p:cNvSpPr/>
              <p:nvPr/>
            </p:nvSpPr>
            <p:spPr>
              <a:xfrm>
                <a:off x="2117601" y="1612776"/>
                <a:ext cx="1479724" cy="2187253"/>
              </a:xfrm>
              <a:prstGeom prst="roundRect">
                <a:avLst>
                  <a:gd name="adj" fmla="val 4024"/>
                </a:avLst>
              </a:prstGeom>
              <a:solidFill>
                <a:srgbClr val="DADBF1"/>
              </a:solidFill>
              <a:ln w="4763">
                <a:solidFill>
                  <a:srgbClr val="C0C1D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 5">
                <a:extLst>
                  <a:ext uri="{FF2B5EF4-FFF2-40B4-BE49-F238E27FC236}">
                    <a16:creationId xmlns:a16="http://schemas.microsoft.com/office/drawing/2014/main" id="{63EF11C3-777E-50C6-9907-A0E8C3B91FF5}"/>
                  </a:ext>
                </a:extLst>
              </p:cNvPr>
              <p:cNvSpPr/>
              <p:nvPr/>
            </p:nvSpPr>
            <p:spPr>
              <a:xfrm>
                <a:off x="2264122" y="1759297"/>
                <a:ext cx="1186681" cy="22145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700"/>
                  </a:lnSpc>
                  <a:buNone/>
                </a:pPr>
                <a:r>
                  <a:rPr lang="en-US" sz="2000" b="1" dirty="0">
                    <a:solidFill>
                      <a:srgbClr val="272525"/>
                    </a:solidFill>
                    <a:latin typeface="Times New Roman" panose="02020603050405020304" pitchFamily="18" charset="0"/>
                    <a:ea typeface="Inter Bold" pitchFamily="34" charset="-122"/>
                    <a:cs typeface="Times New Roman" panose="02020603050405020304" pitchFamily="18" charset="0"/>
                  </a:rPr>
                  <a:t>Challenges</a:t>
                </a:r>
                <a:endParaRPr lang="en-US" sz="13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Text 6">
                <a:extLst>
                  <a:ext uri="{FF2B5EF4-FFF2-40B4-BE49-F238E27FC236}">
                    <a16:creationId xmlns:a16="http://schemas.microsoft.com/office/drawing/2014/main" id="{D5EA1513-EB4E-640E-AB71-054AC61EC40D}"/>
                  </a:ext>
                </a:extLst>
              </p:cNvPr>
              <p:cNvSpPr/>
              <p:nvPr/>
            </p:nvSpPr>
            <p:spPr>
              <a:xfrm>
                <a:off x="2264122" y="2065809"/>
                <a:ext cx="1258387" cy="11340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750"/>
                  </a:lnSpc>
                  <a:buNone/>
                </a:pPr>
                <a:r>
                  <a:rPr lang="en-US" sz="1600" dirty="0">
                    <a:solidFill>
                      <a:srgbClr val="272525"/>
                    </a:solidFill>
                    <a:latin typeface="Times New Roman" panose="02020603050405020304" pitchFamily="18" charset="0"/>
                    <a:ea typeface="Inter" pitchFamily="34" charset="-122"/>
                    <a:cs typeface="Times New Roman" panose="02020603050405020304" pitchFamily="18" charset="0"/>
                  </a:rPr>
                  <a:t>Preemption logic, context switching, and plotting timing correctly.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Shape 7">
                <a:extLst>
                  <a:ext uri="{FF2B5EF4-FFF2-40B4-BE49-F238E27FC236}">
                    <a16:creationId xmlns:a16="http://schemas.microsoft.com/office/drawing/2014/main" id="{1A6E767D-B10B-95E8-D4C4-20B21719B5B0}"/>
                  </a:ext>
                </a:extLst>
              </p:cNvPr>
              <p:cNvSpPr/>
              <p:nvPr/>
            </p:nvSpPr>
            <p:spPr>
              <a:xfrm>
                <a:off x="3739083" y="1612776"/>
                <a:ext cx="1479724" cy="2187253"/>
              </a:xfrm>
              <a:prstGeom prst="roundRect">
                <a:avLst>
                  <a:gd name="adj" fmla="val 4024"/>
                </a:avLst>
              </a:prstGeom>
              <a:solidFill>
                <a:srgbClr val="DADBF1"/>
              </a:solidFill>
              <a:ln w="4763">
                <a:solidFill>
                  <a:srgbClr val="C0C1D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 8">
                <a:extLst>
                  <a:ext uri="{FF2B5EF4-FFF2-40B4-BE49-F238E27FC236}">
                    <a16:creationId xmlns:a16="http://schemas.microsoft.com/office/drawing/2014/main" id="{1B96900E-4F30-BE1E-1058-4AFB00D041B6}"/>
                  </a:ext>
                </a:extLst>
              </p:cNvPr>
              <p:cNvSpPr/>
              <p:nvPr/>
            </p:nvSpPr>
            <p:spPr>
              <a:xfrm>
                <a:off x="3885605" y="1759297"/>
                <a:ext cx="1186681" cy="22145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700"/>
                  </a:lnSpc>
                  <a:buNone/>
                </a:pPr>
                <a:r>
                  <a:rPr lang="en-US" sz="2000" b="1" dirty="0">
                    <a:solidFill>
                      <a:srgbClr val="272525"/>
                    </a:solidFill>
                    <a:latin typeface="Times New Roman" panose="02020603050405020304" pitchFamily="18" charset="0"/>
                    <a:ea typeface="Inter Bold" pitchFamily="34" charset="-122"/>
                    <a:cs typeface="Times New Roman" panose="02020603050405020304" pitchFamily="18" charset="0"/>
                  </a:rPr>
                  <a:t>Takeaway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Text 9">
                <a:extLst>
                  <a:ext uri="{FF2B5EF4-FFF2-40B4-BE49-F238E27FC236}">
                    <a16:creationId xmlns:a16="http://schemas.microsoft.com/office/drawing/2014/main" id="{4FEB6D46-213A-CDEC-C429-88D9E080A211}"/>
                  </a:ext>
                </a:extLst>
              </p:cNvPr>
              <p:cNvSpPr/>
              <p:nvPr/>
            </p:nvSpPr>
            <p:spPr>
              <a:xfrm>
                <a:off x="3885605" y="2065809"/>
                <a:ext cx="1186681" cy="16278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750"/>
                  </a:lnSpc>
                  <a:buNone/>
                </a:pPr>
                <a:r>
                  <a:rPr lang="en-US" dirty="0">
                    <a:solidFill>
                      <a:srgbClr val="272525"/>
                    </a:solidFill>
                    <a:latin typeface="Times New Roman" panose="02020603050405020304" pitchFamily="18" charset="0"/>
                    <a:ea typeface="Inter" pitchFamily="34" charset="-122"/>
                    <a:cs typeface="Times New Roman" panose="02020603050405020304" pitchFamily="18" charset="0"/>
                  </a:rPr>
                  <a:t>Built a working simulator , learned scheduling trade-offs and visualization techniques.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86713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CE580D1-F917-4567-AFB4-99AA9B52A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5620B8-A2D8-4568-B566-F0453A0D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7D2BA4-4B7A-4596-8BCC-5CF715423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9D4B225-18E9-4C5B-94D8-2ABE6D16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6870151-9189-4C3A-8379-EF3D9582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E2CC0DD-91B1-EF67-45AD-09CD4EFCE30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25588" b="36865"/>
          <a:stretch>
            <a:fillRect/>
          </a:stretch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sp>
        <p:nvSpPr>
          <p:cNvPr id="19" name="Slide Number Placeholder 7">
            <a:extLst>
              <a:ext uri="{FF2B5EF4-FFF2-40B4-BE49-F238E27FC236}">
                <a16:creationId xmlns:a16="http://schemas.microsoft.com/office/drawing/2014/main" id="{123EA69C-102A-4DD0-9547-05DCD271D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12301" y="443732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1" name="Footer Placeholder 6">
            <a:extLst>
              <a:ext uri="{FF2B5EF4-FFF2-40B4-BE49-F238E27FC236}">
                <a16:creationId xmlns:a16="http://schemas.microsoft.com/office/drawing/2014/main" id="{6A862265-5CA3-4C40-8582-7534C3B0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636" y="540921"/>
            <a:ext cx="49739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0EF80B-0391-4082-9AF5-F15B091B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93800"/>
            <a:ext cx="12192000" cy="56641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87000"/>
                  <a:alpha val="4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33AC32D-5F44-45F7-A0BD-7C11A86B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63DFF58-8D41-12A9-88A7-3A86820A891C}"/>
              </a:ext>
            </a:extLst>
          </p:cNvPr>
          <p:cNvSpPr txBox="1"/>
          <p:nvPr/>
        </p:nvSpPr>
        <p:spPr>
          <a:xfrm>
            <a:off x="4976636" y="1193800"/>
            <a:ext cx="6085091" cy="469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1"/>
              <a:t>Any Questions?</a:t>
            </a:r>
            <a:endParaRPr lang="en-US"/>
          </a:p>
        </p:txBody>
      </p:sp>
      <p:sp>
        <p:nvSpPr>
          <p:cNvPr id="27" name="Date Placeholder 1">
            <a:extLst>
              <a:ext uri="{FF2B5EF4-FFF2-40B4-BE49-F238E27FC236}">
                <a16:creationId xmlns:a16="http://schemas.microsoft.com/office/drawing/2014/main" id="{3FBF03E8-C602-4192-9C52-F84B29FD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23229" y="6007878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2921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29</TotalTime>
  <Words>293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Gill Sans MT</vt:lpstr>
      <vt:lpstr>Inter</vt:lpstr>
      <vt:lpstr>Inter Bold</vt:lpstr>
      <vt:lpstr>Times New Roman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Ahsan Khan</dc:creator>
  <cp:lastModifiedBy>Arslan Nawaz</cp:lastModifiedBy>
  <cp:revision>3</cp:revision>
  <dcterms:created xsi:type="dcterms:W3CDTF">2026-05-05T07:46:04Z</dcterms:created>
  <dcterms:modified xsi:type="dcterms:W3CDTF">2026-05-09T20:38:56Z</dcterms:modified>
</cp:coreProperties>
</file>